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5.svg" ContentType="image/svg+xml"/>
  <Override PartName="/ppt/media/image47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</p:sldMasterIdLst>
  <p:notesMasterIdLst>
    <p:notesMasterId r:id="rId6"/>
  </p:notesMasterIdLst>
  <p:sldIdLst>
    <p:sldId id="256" r:id="rId5"/>
    <p:sldId id="257" r:id="rId7"/>
    <p:sldId id="258" r:id="rId8"/>
    <p:sldId id="259" r:id="rId9"/>
    <p:sldId id="266" r:id="rId10"/>
    <p:sldId id="260" r:id="rId11"/>
    <p:sldId id="261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4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04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尊敬的各位评委老师，下午好。我是[你的姓名]，今天我将向大家汇报我的研究成果——医学AI开源项目智能分析系统的开发与研究。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本次汇报将分为四个部分，首先是项目概述与目标，其次是数据采集与处理，然后是核心分析结果，最后是总结与展望。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随着人工智能技术在医学领域的快速发展，越来越多的开源项目应运而生。GitHub作为全球最大的开源代码托管平台，蕴藏着丰富的医学AI项目数据。然而，如何有效地从这些海量数据中挖掘有价值的信息，是一个亟待解决的问题。因此，本项目的研究目标是构建一个自动化的医学AI项目发现与分析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项目的数据主要来源于GitHub上与医学AI相关的开源仓库。我们开发了一套智能爬虫系统，能够通过关键词组合进行高效搜索，并对搜索结果进行分页处理和速率控制，以确保数据采集的稳定性和完整性。采集到的数据被分为项目基本信息、Issues数据、Pull Requests数据和Security数据四类进行处理。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项目的数据主要来源于GitHub上与医学AI相关的开源仓库。我们开发了一套智能爬虫系统，能够通过关键词组合进行高效搜索，并对搜索结果进行分页处理和速率控制，以确保数据采集的稳定性和完整性。采集到的数据被分为项目基本信息、Issues数据、Pull Requests数据和Security数据四类进行处理。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通过我们的系统，我们共发现了超过150个相关的医学AI开源项目，并筛选出50个高质量项目进行深度分析。其中，包括了如“人工智能医疗诊断代理”、“INSIGHT”等多个具有代表性的项目。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对这些项目的Issues分析显示，功能需求和Bug报告是主要的Issue类型，分别占比42%和35%。同时，项目的平均Issue解决时间为14.5天，表明这些项目具有较高的社区活跃度。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notesSlide" Target="../notesSlides/notesSlide2.xml"/><Relationship Id="rId12" Type="http://schemas.openxmlformats.org/officeDocument/2006/relationships/slideLayout" Target="../slideLayouts/slideLayout12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image" Target="../media/image9.svg"/><Relationship Id="rId6" Type="http://schemas.openxmlformats.org/officeDocument/2006/relationships/image" Target="../media/image8.png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12.png"/><Relationship Id="rId14" Type="http://schemas.openxmlformats.org/officeDocument/2006/relationships/image" Target="../media/image11.svg"/><Relationship Id="rId13" Type="http://schemas.openxmlformats.org/officeDocument/2006/relationships/image" Target="../media/image10.png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svg"/><Relationship Id="rId8" Type="http://schemas.openxmlformats.org/officeDocument/2006/relationships/image" Target="../media/image20.png"/><Relationship Id="rId7" Type="http://schemas.openxmlformats.org/officeDocument/2006/relationships/image" Target="../media/image19.svg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3" Type="http://schemas.openxmlformats.org/officeDocument/2006/relationships/image" Target="../media/image15.svg"/><Relationship Id="rId21" Type="http://schemas.openxmlformats.org/officeDocument/2006/relationships/notesSlide" Target="../notesSlides/notesSlide4.xml"/><Relationship Id="rId20" Type="http://schemas.openxmlformats.org/officeDocument/2006/relationships/slideLayout" Target="../slideLayouts/slideLayout12.xml"/><Relationship Id="rId2" Type="http://schemas.openxmlformats.org/officeDocument/2006/relationships/image" Target="../media/image14.png"/><Relationship Id="rId19" Type="http://schemas.openxmlformats.org/officeDocument/2006/relationships/image" Target="../media/image31.svg"/><Relationship Id="rId18" Type="http://schemas.openxmlformats.org/officeDocument/2006/relationships/image" Target="../media/image30.png"/><Relationship Id="rId17" Type="http://schemas.openxmlformats.org/officeDocument/2006/relationships/image" Target="../media/image29.svg"/><Relationship Id="rId16" Type="http://schemas.openxmlformats.org/officeDocument/2006/relationships/image" Target="../media/image28.png"/><Relationship Id="rId15" Type="http://schemas.openxmlformats.org/officeDocument/2006/relationships/image" Target="../media/image27.svg"/><Relationship Id="rId14" Type="http://schemas.openxmlformats.org/officeDocument/2006/relationships/image" Target="../media/image26.png"/><Relationship Id="rId13" Type="http://schemas.openxmlformats.org/officeDocument/2006/relationships/image" Target="../media/image25.svg"/><Relationship Id="rId12" Type="http://schemas.openxmlformats.org/officeDocument/2006/relationships/image" Target="../media/image24.png"/><Relationship Id="rId11" Type="http://schemas.openxmlformats.org/officeDocument/2006/relationships/image" Target="../media/image23.svg"/><Relationship Id="rId10" Type="http://schemas.openxmlformats.org/officeDocument/2006/relationships/image" Target="../media/image22.png"/><Relationship Id="rId1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svg"/><Relationship Id="rId8" Type="http://schemas.openxmlformats.org/officeDocument/2006/relationships/image" Target="../media/image38.png"/><Relationship Id="rId7" Type="http://schemas.openxmlformats.org/officeDocument/2006/relationships/image" Target="../media/image37.svg"/><Relationship Id="rId6" Type="http://schemas.openxmlformats.org/officeDocument/2006/relationships/image" Target="../media/image36.png"/><Relationship Id="rId5" Type="http://schemas.openxmlformats.org/officeDocument/2006/relationships/image" Target="../media/image35.svg"/><Relationship Id="rId4" Type="http://schemas.openxmlformats.org/officeDocument/2006/relationships/image" Target="../media/image34.png"/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4" Type="http://schemas.openxmlformats.org/officeDocument/2006/relationships/notesSlide" Target="../notesSlides/notesSlide5.xml"/><Relationship Id="rId13" Type="http://schemas.openxmlformats.org/officeDocument/2006/relationships/slideLayout" Target="../slideLayouts/slideLayout13.xml"/><Relationship Id="rId12" Type="http://schemas.openxmlformats.org/officeDocument/2006/relationships/image" Target="../media/image42.png"/><Relationship Id="rId11" Type="http://schemas.openxmlformats.org/officeDocument/2006/relationships/image" Target="../media/image41.svg"/><Relationship Id="rId10" Type="http://schemas.openxmlformats.org/officeDocument/2006/relationships/image" Target="../media/image40.png"/><Relationship Id="rId1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3" Type="http://schemas.openxmlformats.org/officeDocument/2006/relationships/tags" Target="../tags/tag19.xml"/><Relationship Id="rId27" Type="http://schemas.openxmlformats.org/officeDocument/2006/relationships/notesSlide" Target="../notesSlides/notesSlide6.xml"/><Relationship Id="rId26" Type="http://schemas.openxmlformats.org/officeDocument/2006/relationships/slideLayout" Target="../slideLayouts/slideLayout12.xml"/><Relationship Id="rId25" Type="http://schemas.openxmlformats.org/officeDocument/2006/relationships/tags" Target="../tags/tag33.xml"/><Relationship Id="rId24" Type="http://schemas.openxmlformats.org/officeDocument/2006/relationships/tags" Target="../tags/tag32.xml"/><Relationship Id="rId23" Type="http://schemas.openxmlformats.org/officeDocument/2006/relationships/image" Target="../media/image9.svg"/><Relationship Id="rId22" Type="http://schemas.openxmlformats.org/officeDocument/2006/relationships/image" Target="../media/image8.png"/><Relationship Id="rId21" Type="http://schemas.openxmlformats.org/officeDocument/2006/relationships/tags" Target="../tags/tag31.xml"/><Relationship Id="rId20" Type="http://schemas.openxmlformats.org/officeDocument/2006/relationships/tags" Target="../tags/tag30.xml"/><Relationship Id="rId2" Type="http://schemas.openxmlformats.org/officeDocument/2006/relationships/tags" Target="../tags/tag18.xml"/><Relationship Id="rId19" Type="http://schemas.openxmlformats.org/officeDocument/2006/relationships/tags" Target="../tags/tag29.xml"/><Relationship Id="rId18" Type="http://schemas.openxmlformats.org/officeDocument/2006/relationships/tags" Target="../tags/tag28.xml"/><Relationship Id="rId17" Type="http://schemas.openxmlformats.org/officeDocument/2006/relationships/image" Target="../media/image47.svg"/><Relationship Id="rId16" Type="http://schemas.openxmlformats.org/officeDocument/2006/relationships/image" Target="../media/image46.png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image" Target="../media/image45.svg"/><Relationship Id="rId10" Type="http://schemas.openxmlformats.org/officeDocument/2006/relationships/image" Target="../media/image44.png"/><Relationship Id="rId1" Type="http://schemas.openxmlformats.org/officeDocument/2006/relationships/image" Target="../media/image43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49.png"/><Relationship Id="rId1" Type="http://schemas.openxmlformats.org/officeDocument/2006/relationships/image" Target="../media/image4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30555" y="1997710"/>
            <a:ext cx="10972800" cy="14312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医疗软件漏洞数据收集</a:t>
            </a:r>
            <a:endParaRPr lang="zh-CN" altLang="en-US" sz="4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25000"/>
              </a:lnSpc>
              <a:defRPr/>
            </a:pPr>
            <a:r>
              <a:rPr lang="zh-CN" alt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阶段性汇报</a:t>
            </a:r>
            <a:endParaRPr lang="zh-CN" altLang="en-US" sz="4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 flipV="1">
            <a:off x="2852420" y="3573780"/>
            <a:ext cx="6514465" cy="76200"/>
          </a:xfrm>
          <a:prstGeom prst="roundRect">
            <a:avLst>
              <a:gd name="adj" fmla="val 0"/>
            </a:avLst>
          </a:prstGeom>
          <a:solidFill>
            <a:srgbClr val="00AE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3010" y="5484495"/>
            <a:ext cx="335915" cy="335915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9234805" y="5484495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</a:t>
            </a:r>
            <a:r>
              <a:rPr lang="zh-CN" altLang="en-US" sz="20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唐振桓</a:t>
            </a:r>
            <a:endParaRPr lang="zh-CN" altLang="en-US" sz="20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>
            <a:alphaModFix amt="50000"/>
          </a:blip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200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AEE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789432"/>
            <a:ext cx="733626" cy="733626"/>
          </a:xfrm>
          <a:prstGeom prst="ellipse">
            <a:avLst/>
          </a:prstGeom>
          <a:solidFill>
            <a:srgbClr val="00AE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1862440" y="1899475"/>
            <a:ext cx="6419230" cy="51353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1">
                <a:solidFill>
                  <a:schemeClr val="bg1"/>
                </a:solidFill>
                <a:effectLst/>
                <a:ea typeface="宋体" panose="02010600030101010101" pitchFamily="2" charset="-122"/>
              </a:rPr>
              <a:t>基于上次工作的补充</a:t>
            </a:r>
            <a:endParaRPr lang="zh-CN" altLang="en-US" sz="2400" b="1">
              <a:solidFill>
                <a:schemeClr val="bg1"/>
              </a:solidFill>
              <a:effectLst/>
              <a:ea typeface="宋体" panose="02010600030101010101" pitchFamily="2" charset="-122"/>
            </a:endParaRPr>
          </a:p>
        </p:txBody>
      </p:sp>
      <p:cxnSp>
        <p:nvCxnSpPr>
          <p:cNvPr id="7" name="Connector 7"/>
          <p:cNvCxnSpPr/>
          <p:nvPr>
            <p:custDataLst>
              <p:tags r:id="rId4"/>
            </p:custDataLst>
          </p:nvPr>
        </p:nvCxnSpPr>
        <p:spPr>
          <a:xfrm rot="-8814">
            <a:off x="762012" y="2880701"/>
            <a:ext cx="7152857" cy="18341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762000" y="3348388"/>
            <a:ext cx="733626" cy="733626"/>
          </a:xfrm>
          <a:prstGeom prst="ellipse">
            <a:avLst/>
          </a:prstGeom>
          <a:solidFill>
            <a:srgbClr val="00AE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1524000" y="2933700"/>
            <a:ext cx="4445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800" b="1"/>
          </a:p>
        </p:txBody>
      </p:sp>
      <p:cxnSp>
        <p:nvCxnSpPr>
          <p:cNvPr id="10" name="Connector 10"/>
          <p:cNvCxnSpPr/>
          <p:nvPr>
            <p:custDataLst>
              <p:tags r:id="rId7"/>
            </p:custDataLst>
          </p:nvPr>
        </p:nvCxnSpPr>
        <p:spPr>
          <a:xfrm rot="-8814">
            <a:off x="762012" y="4439657"/>
            <a:ext cx="7152857" cy="18341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762000" y="4907343"/>
            <a:ext cx="733626" cy="733626"/>
          </a:xfrm>
          <a:prstGeom prst="ellipse">
            <a:avLst/>
          </a:prstGeom>
          <a:solidFill>
            <a:srgbClr val="00AE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1862440" y="3330047"/>
            <a:ext cx="6419230" cy="792316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1">
                <a:solidFill>
                  <a:schemeClr val="bg1"/>
                </a:solidFill>
                <a:ea typeface="宋体" panose="02010600030101010101" pitchFamily="2" charset="-122"/>
              </a:rPr>
              <a:t>新代码功能介绍</a:t>
            </a:r>
            <a:endParaRPr lang="zh-CN" altLang="en-US" sz="2400" b="1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cxnSp>
        <p:nvCxnSpPr>
          <p:cNvPr id="13" name="Connector 13"/>
          <p:cNvCxnSpPr/>
          <p:nvPr>
            <p:custDataLst>
              <p:tags r:id="rId10"/>
            </p:custDataLst>
          </p:nvPr>
        </p:nvCxnSpPr>
        <p:spPr>
          <a:xfrm rot="-8814">
            <a:off x="762012" y="5998613"/>
            <a:ext cx="7152857" cy="18341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1862440" y="4789963"/>
            <a:ext cx="6419230" cy="85284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400" b="1" i="0" u="none" strike="noStrike">
                <a:solidFill>
                  <a:srgbClr val="FFFFFF"/>
                </a:solidFill>
                <a:latin typeface="+mn-ea"/>
                <a:ea typeface="+mn-ea"/>
                <a:cs typeface="Noto Sans SC" panose="020B0200000000000000" charset="-122"/>
                <a:sym typeface="Noto Sans SC" panose="020B0200000000000000" charset="-122"/>
              </a:rPr>
              <a:t>成果分析介绍</a:t>
            </a:r>
            <a:endParaRPr lang="zh-CN" altLang="en-US" sz="2400" b="1" i="0" u="none" strike="noStrike">
              <a:solidFill>
                <a:srgbClr val="FFFFFF"/>
              </a:solidFill>
              <a:latin typeface="+mn-ea"/>
              <a:ea typeface="+mn-ea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>
                <a:solidFill>
                  <a:schemeClr val="bg1"/>
                </a:solidFill>
                <a:effectLst/>
                <a:ea typeface="宋体" panose="02010600030101010101" pitchFamily="2" charset="-122"/>
                <a:sym typeface="+mn-ea"/>
              </a:rPr>
              <a:t>基于上次工作的补充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AEE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651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E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</a:t>
            </a:r>
            <a:r>
              <a:rPr lang="zh-CN" altLang="en-US" sz="2000" b="1" i="0" u="none" strike="noStrike">
                <a:solidFill>
                  <a:srgbClr val="00AE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对象</a:t>
            </a:r>
            <a:endParaRPr lang="zh-CN" altLang="en-US" sz="2000" b="1" i="0" u="none" strike="noStrike">
              <a:solidFill>
                <a:srgbClr val="00AEE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2286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70000" y="2311400"/>
            <a:ext cx="4572000" cy="17532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altLang="zh-CN" sz="1800" b="1">
                <a:solidFill>
                  <a:schemeClr val="bg1"/>
                </a:solidFill>
              </a:rPr>
              <a:t>MONAI,TorchXRayVision,DeepChem,cTAKES,Synthea Patient Generator,ITK-SNAP,ImageJ,Fiji,MIPAV</a:t>
            </a:r>
            <a:r>
              <a:rPr lang="zh-CN" altLang="en-US" sz="1800" b="1">
                <a:solidFill>
                  <a:schemeClr val="bg1"/>
                </a:solidFill>
                <a:ea typeface="宋体" panose="02010600030101010101" pitchFamily="2" charset="-122"/>
              </a:rPr>
              <a:t>等新找的</a:t>
            </a:r>
            <a:r>
              <a:rPr lang="en-US" altLang="zh-CN" sz="1800" b="1">
                <a:solidFill>
                  <a:schemeClr val="bg1"/>
                </a:solidFill>
                <a:ea typeface="宋体" panose="02010600030101010101" pitchFamily="2" charset="-122"/>
              </a:rPr>
              <a:t>AI</a:t>
            </a:r>
            <a:r>
              <a:rPr lang="zh-CN" altLang="en-US" sz="1800" b="1">
                <a:solidFill>
                  <a:schemeClr val="bg1"/>
                </a:solidFill>
                <a:ea typeface="宋体" panose="02010600030101010101" pitchFamily="2" charset="-122"/>
              </a:rPr>
              <a:t>医疗软件</a:t>
            </a:r>
            <a:endParaRPr lang="en-US" altLang="zh-CN" sz="1800" b="1">
              <a:solidFill>
                <a:schemeClr val="bg1"/>
              </a:solidFill>
            </a:endParaRPr>
          </a:p>
          <a:p>
            <a:pPr indent="0" algn="l">
              <a:lnSpc>
                <a:spcPct val="117000"/>
              </a:lnSpc>
              <a:defRPr/>
            </a:pPr>
            <a:endParaRPr lang="en-US" altLang="zh-CN" sz="1800" b="1">
              <a:solidFill>
                <a:schemeClr val="bg1"/>
              </a:solidFill>
            </a:endParaRPr>
          </a:p>
        </p:txBody>
      </p:sp>
      <p:cxnSp>
        <p:nvCxnSpPr>
          <p:cNvPr id="11" name="Connector 11"/>
          <p:cNvCxnSpPr/>
          <p:nvPr/>
        </p:nvCxnSpPr>
        <p:spPr>
          <a:xfrm rot="5380901">
            <a:off x="4953000" y="2787668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477000" y="1651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E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研究目标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4"/>
            </p:custDataLst>
          </p:nvPr>
        </p:nvSpPr>
        <p:spPr>
          <a:xfrm>
            <a:off x="6529070" y="2298700"/>
            <a:ext cx="496443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这些医疗软件在</a:t>
            </a:r>
            <a:r>
              <a:rPr lang="en-US" altLang="zh-CN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github</a:t>
            </a:r>
            <a:r>
              <a:rPr lang="zh-CN" altLang="en-US" sz="16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网站上的：</a:t>
            </a:r>
            <a:endParaRPr lang="zh-CN" altLang="en-US" sz="16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27940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>
            <p:custDataLst>
              <p:tags r:id="rId8"/>
            </p:custDataLst>
          </p:nvPr>
        </p:nvSpPr>
        <p:spPr>
          <a:xfrm>
            <a:off x="6921500" y="2717800"/>
            <a:ext cx="45720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800" b="1">
                <a:solidFill>
                  <a:schemeClr val="bg1"/>
                </a:solidFill>
              </a:rPr>
              <a:t>Issues</a:t>
            </a:r>
            <a:endParaRPr lang="en-US" altLang="zh-CN" sz="1800" b="1">
              <a:solidFill>
                <a:schemeClr val="bg1"/>
              </a:solidFill>
            </a:endParaR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33020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10"/>
            </p:custDataLst>
          </p:nvPr>
        </p:nvSpPr>
        <p:spPr>
          <a:xfrm>
            <a:off x="6921500" y="3226435"/>
            <a:ext cx="4572000" cy="3676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800" b="1">
                <a:solidFill>
                  <a:schemeClr val="bg1"/>
                </a:solidFill>
              </a:rPr>
              <a:t>Pull requests</a:t>
            </a:r>
            <a:endParaRPr lang="en-US" altLang="zh-CN" sz="1800" b="1">
              <a:solidFill>
                <a:schemeClr val="bg1"/>
              </a:solidFill>
            </a:endParaR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38100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12"/>
            </p:custDataLst>
          </p:nvPr>
        </p:nvSpPr>
        <p:spPr>
          <a:xfrm>
            <a:off x="6921500" y="3735070"/>
            <a:ext cx="4572000" cy="3670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1800" b="1">
                <a:solidFill>
                  <a:schemeClr val="bg1"/>
                </a:solidFill>
              </a:rPr>
              <a:t>Security</a:t>
            </a:r>
            <a:endParaRPr lang="en-US" altLang="zh-CN" sz="1800" b="1">
              <a:solidFill>
                <a:schemeClr val="bg1"/>
              </a:solidFill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62000" y="4572000"/>
            <a:ext cx="5429250" cy="1016000"/>
          </a:xfrm>
          <a:prstGeom prst="roundRect">
            <a:avLst>
              <a:gd name="adj" fmla="val 10000"/>
            </a:avLst>
          </a:prstGeom>
          <a:solidFill>
            <a:srgbClr val="00529B">
              <a:alpha val="30000"/>
            </a:srgbClr>
          </a:solidFill>
          <a:ln w="12700" cap="flat" cmpd="sng">
            <a:solidFill>
              <a:srgbClr val="00AEE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6000" y="49276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524000" y="4826000"/>
            <a:ext cx="4390390" cy="4540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>
                <a:solidFill>
                  <a:schemeClr val="bg1"/>
                </a:solidFill>
                <a:ea typeface="宋体" panose="02010600030101010101" pitchFamily="2" charset="-122"/>
              </a:rPr>
              <a:t>这些数据收集在</a:t>
            </a:r>
            <a:r>
              <a:rPr lang="en-US" altLang="zh-CN" sz="1800" b="1">
                <a:solidFill>
                  <a:schemeClr val="bg1"/>
                </a:solidFill>
                <a:ea typeface="宋体" panose="02010600030101010101" pitchFamily="2" charset="-122"/>
              </a:rPr>
              <a:t>github_collected_data</a:t>
            </a:r>
            <a:r>
              <a:rPr lang="zh-CN" altLang="en-US" sz="1800" b="1">
                <a:solidFill>
                  <a:schemeClr val="bg1"/>
                </a:solidFill>
                <a:ea typeface="宋体" panose="02010600030101010101" pitchFamily="2" charset="-122"/>
              </a:rPr>
              <a:t>中</a:t>
            </a:r>
            <a:endParaRPr lang="zh-CN" altLang="en-US" sz="1800" b="1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33510" y="2938145"/>
            <a:ext cx="2576830" cy="35769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新代码功能介绍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00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AEE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5875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E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数据来源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21590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06500" y="21590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新添加的AI医疗软件GitHub仓库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28575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06500" y="28575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人工智能医疗代理相关GitHub仓库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683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E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爬虫代码功能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42545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206500" y="42545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智能关键词组合搜索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000" y="48260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206500" y="4826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分页处理与速率控制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2000" y="53975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206500" y="53975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数据去重与标准化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5389582">
            <a:off x="4000500" y="36766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AEE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477000" y="15875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AE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数据分类处理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21590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21500" y="21590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项目基本信息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Stars, Forks, 语言等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77000" y="3111500"/>
            <a:ext cx="254000" cy="254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921500" y="31115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Issues 数据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数量，类型，解决时间等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77000" y="4064000"/>
            <a:ext cx="254000" cy="254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921500" y="40640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Pull Requests 数据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数量，合并率，贡献者等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477000" y="5016500"/>
            <a:ext cx="254000" cy="254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921500" y="50165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Security 数据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漏洞数量，类型，修复时间等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600" b="1">
                <a:solidFill>
                  <a:schemeClr val="bg1"/>
                </a:solidFill>
                <a:ea typeface="宋体" panose="02010600030101010101" pitchFamily="2" charset="-122"/>
                <a:sym typeface="+mn-ea"/>
              </a:rPr>
              <a:t>新代码功能介绍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00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AEE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5875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>
                <a:solidFill>
                  <a:srgbClr val="00B0F0"/>
                </a:solidFill>
              </a:rPr>
              <a:t>趋势分析</a:t>
            </a:r>
            <a:endParaRPr lang="zh-CN" altLang="en-US" sz="2000" b="1">
              <a:solidFill>
                <a:srgbClr val="00B0F0"/>
              </a:solidFill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21590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06500" y="21590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altLang="zh-CN" sz="1800" b="1">
                <a:solidFill>
                  <a:schemeClr val="bg1"/>
                </a:solidFill>
              </a:rPr>
              <a:t>Star </a:t>
            </a:r>
            <a:r>
              <a:rPr lang="zh-CN" altLang="en-US" sz="1800" b="1">
                <a:solidFill>
                  <a:schemeClr val="bg1"/>
                </a:solidFill>
              </a:rPr>
              <a:t>增长趋势</a:t>
            </a:r>
            <a:endParaRPr lang="zh-CN" altLang="en-US" sz="1800" b="1">
              <a:solidFill>
                <a:schemeClr val="bg1"/>
              </a:solidFill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28575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06500" y="28575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altLang="zh-CN" sz="1800" b="1">
                <a:solidFill>
                  <a:schemeClr val="bg1"/>
                </a:solidFill>
              </a:rPr>
              <a:t>Issue </a:t>
            </a:r>
            <a:r>
              <a:rPr lang="zh-CN" altLang="en-US" sz="1800" b="1">
                <a:solidFill>
                  <a:schemeClr val="bg1"/>
                </a:solidFill>
              </a:rPr>
              <a:t>解决速度分析</a:t>
            </a:r>
            <a:endParaRPr lang="zh-CN" altLang="en-US" sz="1800" b="1">
              <a:solidFill>
                <a:schemeClr val="bg1"/>
              </a:solidFill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3683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>
                <a:solidFill>
                  <a:srgbClr val="00B0F0"/>
                </a:solidFill>
              </a:rPr>
              <a:t>健康度评分系统</a:t>
            </a:r>
            <a:endParaRPr lang="zh-CN" altLang="en-US" sz="2000" b="1">
              <a:solidFill>
                <a:srgbClr val="00B0F0"/>
              </a:solidFill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42545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206500" y="42545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>
                <a:solidFill>
                  <a:schemeClr val="bg1"/>
                </a:solidFill>
              </a:rPr>
              <a:t>活跃度评分（更新频率）</a:t>
            </a:r>
            <a:endParaRPr lang="zh-CN" altLang="en-US" sz="1800" b="1">
              <a:solidFill>
                <a:schemeClr val="bg1"/>
              </a:solidFill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000" y="48260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206500" y="48260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>
                <a:solidFill>
                  <a:schemeClr val="bg1"/>
                </a:solidFill>
              </a:rPr>
              <a:t>社区活跃度（</a:t>
            </a:r>
            <a:r>
              <a:rPr lang="en-US" altLang="zh-CN" sz="1800" b="1">
                <a:solidFill>
                  <a:schemeClr val="bg1"/>
                </a:solidFill>
              </a:rPr>
              <a:t>Issues/PR </a:t>
            </a:r>
            <a:r>
              <a:rPr lang="zh-CN" altLang="en-US" sz="1800" b="1">
                <a:solidFill>
                  <a:schemeClr val="bg1"/>
                </a:solidFill>
              </a:rPr>
              <a:t>响应时间）</a:t>
            </a:r>
            <a:endParaRPr lang="zh-CN" altLang="en-US" sz="1800" b="1">
              <a:solidFill>
                <a:schemeClr val="bg1"/>
              </a:solidFill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2000" y="53975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206500" y="5397500"/>
            <a:ext cx="4572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>
                <a:solidFill>
                  <a:schemeClr val="bg1"/>
                </a:solidFill>
              </a:rPr>
              <a:t>安全性评分（漏洞数量、修复速度）</a:t>
            </a:r>
            <a:endParaRPr lang="zh-CN" altLang="en-US" sz="1800" b="1">
              <a:solidFill>
                <a:schemeClr val="bg1"/>
              </a:solidFill>
            </a:endParaRPr>
          </a:p>
        </p:txBody>
      </p:sp>
      <p:cxnSp>
        <p:nvCxnSpPr>
          <p:cNvPr id="18" name="Connector 18"/>
          <p:cNvCxnSpPr/>
          <p:nvPr/>
        </p:nvCxnSpPr>
        <p:spPr>
          <a:xfrm rot="5389582">
            <a:off x="4000500" y="3676660"/>
            <a:ext cx="419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AEE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28" name="图片 2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08215" y="1397000"/>
            <a:ext cx="3234055" cy="43008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核心分析结果 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162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AEE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4224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项目发现统计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762000" y="1930400"/>
            <a:ext cx="2476500" cy="1016000"/>
          </a:xfrm>
          <a:prstGeom prst="roundRect">
            <a:avLst>
              <a:gd name="adj" fmla="val 10000"/>
            </a:avLst>
          </a:prstGeom>
          <a:solidFill>
            <a:srgbClr val="00529B">
              <a:alpha val="20000"/>
            </a:srgbClr>
          </a:solidFill>
          <a:ln w="12700" cap="flat" cmpd="sng">
            <a:solidFill>
              <a:srgbClr val="00529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5200" y="21336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1422400" y="21336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AE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300+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1422400" y="24892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搜索关键词组合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3492500" y="1930400"/>
            <a:ext cx="2476500" cy="1016000"/>
          </a:xfrm>
          <a:prstGeom prst="roundRect">
            <a:avLst>
              <a:gd name="adj" fmla="val 10000"/>
            </a:avLst>
          </a:prstGeom>
          <a:solidFill>
            <a:srgbClr val="00529B">
              <a:alpha val="20000"/>
            </a:srgbClr>
          </a:solidFill>
          <a:ln w="12700" cap="flat" cmpd="sng">
            <a:solidFill>
              <a:srgbClr val="00529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95700" y="21336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2"/>
            </p:custDataLst>
          </p:nvPr>
        </p:nvSpPr>
        <p:spPr>
          <a:xfrm>
            <a:off x="4152900" y="21336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AE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150+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3"/>
            </p:custDataLst>
          </p:nvPr>
        </p:nvSpPr>
        <p:spPr>
          <a:xfrm>
            <a:off x="4152900" y="24892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初步发现项目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4"/>
            </p:custDataLst>
          </p:nvPr>
        </p:nvSpPr>
        <p:spPr>
          <a:xfrm>
            <a:off x="6223000" y="1930400"/>
            <a:ext cx="2476500" cy="1016000"/>
          </a:xfrm>
          <a:prstGeom prst="roundRect">
            <a:avLst>
              <a:gd name="adj" fmla="val 10000"/>
            </a:avLst>
          </a:prstGeom>
          <a:solidFill>
            <a:srgbClr val="00529B">
              <a:alpha val="20000"/>
            </a:srgbClr>
          </a:solidFill>
          <a:ln w="12700" cap="flat" cmpd="sng">
            <a:solidFill>
              <a:srgbClr val="00529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26200" y="21336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18"/>
            </p:custDataLst>
          </p:nvPr>
        </p:nvSpPr>
        <p:spPr>
          <a:xfrm>
            <a:off x="6883400" y="21336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AE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50+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9"/>
            </p:custDataLst>
          </p:nvPr>
        </p:nvSpPr>
        <p:spPr>
          <a:xfrm>
            <a:off x="6883400" y="24892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高质量项目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20"/>
            </p:custDataLst>
          </p:nvPr>
        </p:nvSpPr>
        <p:spPr>
          <a:xfrm>
            <a:off x="8953500" y="1930400"/>
            <a:ext cx="2476500" cy="1016000"/>
          </a:xfrm>
          <a:prstGeom prst="roundRect">
            <a:avLst>
              <a:gd name="adj" fmla="val 10000"/>
            </a:avLst>
          </a:prstGeom>
          <a:solidFill>
            <a:srgbClr val="00529B">
              <a:alpha val="20000"/>
            </a:srgbClr>
          </a:solidFill>
          <a:ln w="12700" cap="flat" cmpd="sng">
            <a:solidFill>
              <a:srgbClr val="00529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156700" y="21336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24"/>
            </p:custDataLst>
          </p:nvPr>
        </p:nvSpPr>
        <p:spPr>
          <a:xfrm>
            <a:off x="9613900" y="2133600"/>
            <a:ext cx="177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AE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10+</a:t>
            </a:r>
            <a:endParaRPr lang="en-US" sz="1100"/>
          </a:p>
        </p:txBody>
      </p:sp>
      <p:sp>
        <p:nvSpPr>
          <p:cNvPr id="22" name="AutoShape 22"/>
          <p:cNvSpPr/>
          <p:nvPr>
            <p:custDataLst>
              <p:tags r:id="rId25"/>
            </p:custDataLst>
          </p:nvPr>
        </p:nvSpPr>
        <p:spPr>
          <a:xfrm>
            <a:off x="9613900" y="2489200"/>
            <a:ext cx="1778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深度爬取项目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-4092">
            <a:off x="762004" y="31940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AEEF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762000" y="34544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重点分析项目列表</a:t>
            </a:r>
            <a:endParaRPr lang="en-US" sz="1100"/>
          </a:p>
        </p:txBody>
      </p:sp>
      <p:graphicFrame>
        <p:nvGraphicFramePr>
          <p:cNvPr id="25" name="Table 25"/>
          <p:cNvGraphicFramePr>
            <a:graphicFrameLocks noGrp="1"/>
          </p:cNvGraphicFramePr>
          <p:nvPr/>
        </p:nvGraphicFramePr>
        <p:xfrm>
          <a:off x="762000" y="3962400"/>
          <a:ext cx="10668000" cy="2082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810000"/>
                <a:gridCol w="1270000"/>
                <a:gridCol w="1270000"/>
                <a:gridCol w="1524000"/>
                <a:gridCol w="2794000"/>
              </a:tblGrid>
              <a:tr h="4572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项目名称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9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Stars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9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Forks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9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语言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9B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主要功能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9B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ahmadvh/人工智能医疗诊断代理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9B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246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9B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9B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Python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9B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医疗诊断AI代理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9B">
                        <a:alpha val="15000"/>
                      </a:srgbClr>
                    </a:solidFill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onei1512/INSIGHT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9B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420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9B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78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9B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Python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9B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医学研究自主AI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9B">
                        <a:alpha val="15000"/>
                      </a:srgbClr>
                    </a:solidFill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zjlrock777/Awesome-LLM-Agents...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9B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73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9B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15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9B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Markdown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9B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生物医学LLM代理列表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9B">
                        <a:alpha val="15000"/>
                      </a:srgbClr>
                    </a:solidFill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asanmateu/medgraph-ai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9B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89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9B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22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9B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Python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9B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5E7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医疗知识图RAG代理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529B">
                        <a:alpha val="15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文本框 25"/>
          <p:cNvSpPr txBox="1"/>
          <p:nvPr/>
        </p:nvSpPr>
        <p:spPr>
          <a:xfrm>
            <a:off x="1103630" y="711835"/>
            <a:ext cx="5800090" cy="47821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solidFill>
                  <a:schemeClr val="bg1"/>
                </a:solidFill>
              </a:rPr>
              <a:t>目前阶段我使用了爬虫爬了</a:t>
            </a:r>
            <a:r>
              <a:rPr lang="en-US" altLang="zh-CN" sz="2400" b="1">
                <a:solidFill>
                  <a:schemeClr val="bg1"/>
                </a:solidFill>
              </a:rPr>
              <a:t>300</a:t>
            </a:r>
            <a:r>
              <a:rPr lang="zh-CN" altLang="en-US" sz="2400" b="1">
                <a:solidFill>
                  <a:schemeClr val="bg1"/>
                </a:solidFill>
              </a:rPr>
              <a:t>多个</a:t>
            </a:r>
            <a:r>
              <a:rPr lang="en-US" altLang="zh-CN" sz="2400" b="1">
                <a:solidFill>
                  <a:schemeClr val="bg1"/>
                </a:solidFill>
              </a:rPr>
              <a:t>github</a:t>
            </a:r>
            <a:r>
              <a:rPr lang="zh-CN" altLang="en-US" sz="2400" b="1">
                <a:solidFill>
                  <a:schemeClr val="bg1"/>
                </a:solidFill>
              </a:rPr>
              <a:t>上人工智能医疗有关的网站，对这</a:t>
            </a:r>
            <a:r>
              <a:rPr lang="en-US" altLang="zh-CN" sz="2400" b="1">
                <a:solidFill>
                  <a:schemeClr val="bg1"/>
                </a:solidFill>
              </a:rPr>
              <a:t>300</a:t>
            </a:r>
            <a:r>
              <a:rPr lang="zh-CN" altLang="en-US" sz="2400" b="1">
                <a:solidFill>
                  <a:schemeClr val="bg1"/>
                </a:solidFill>
              </a:rPr>
              <a:t>多条信息有了一个初步的整理，现在我要做的是将这</a:t>
            </a:r>
            <a:r>
              <a:rPr lang="en-US" altLang="zh-CN" sz="2400" b="1">
                <a:solidFill>
                  <a:schemeClr val="bg1"/>
                </a:solidFill>
              </a:rPr>
              <a:t>300</a:t>
            </a:r>
            <a:r>
              <a:rPr lang="zh-CN" altLang="en-US" sz="2400" b="1">
                <a:solidFill>
                  <a:schemeClr val="bg1"/>
                </a:solidFill>
              </a:rPr>
              <a:t>多个</a:t>
            </a:r>
            <a:r>
              <a:rPr lang="en-US" altLang="zh-CN" sz="2400" b="1">
                <a:solidFill>
                  <a:schemeClr val="bg1"/>
                </a:solidFill>
              </a:rPr>
              <a:t>github</a:t>
            </a:r>
            <a:r>
              <a:rPr lang="zh-CN" altLang="en-US" sz="2400" b="1">
                <a:solidFill>
                  <a:schemeClr val="bg1"/>
                </a:solidFill>
              </a:rPr>
              <a:t>网站里的</a:t>
            </a:r>
            <a:r>
              <a:rPr lang="en-US" altLang="zh-CN" sz="2400" b="1">
                <a:solidFill>
                  <a:schemeClr val="bg1"/>
                </a:solidFill>
              </a:rPr>
              <a:t>Issues</a:t>
            </a:r>
            <a:r>
              <a:rPr lang="zh-CN" altLang="en-US" sz="2400" b="1">
                <a:solidFill>
                  <a:schemeClr val="bg1"/>
                </a:solidFill>
              </a:rPr>
              <a:t>，</a:t>
            </a:r>
            <a:r>
              <a:rPr lang="en-US" altLang="zh-CN" sz="2400" b="1">
                <a:solidFill>
                  <a:schemeClr val="bg1"/>
                </a:solidFill>
              </a:rPr>
              <a:t>Pullrequests</a:t>
            </a:r>
            <a:r>
              <a:rPr lang="zh-CN" altLang="en-US" sz="2400" b="1">
                <a:solidFill>
                  <a:schemeClr val="bg1"/>
                </a:solidFill>
              </a:rPr>
              <a:t>，</a:t>
            </a:r>
            <a:r>
              <a:rPr lang="en-US" altLang="zh-CN" sz="2400" b="1">
                <a:solidFill>
                  <a:schemeClr val="bg1"/>
                </a:solidFill>
              </a:rPr>
              <a:t>Security</a:t>
            </a:r>
            <a:r>
              <a:rPr lang="zh-CN" altLang="en-US" sz="2400" b="1">
                <a:solidFill>
                  <a:schemeClr val="bg1"/>
                </a:solidFill>
              </a:rPr>
              <a:t>信息给爬出来，然后分类整理好。</a:t>
            </a:r>
            <a:endParaRPr lang="zh-CN" altLang="en-US" sz="2400" b="1">
              <a:solidFill>
                <a:schemeClr val="bg1"/>
              </a:solidFill>
            </a:endParaRPr>
          </a:p>
          <a:p>
            <a:r>
              <a:rPr lang="zh-CN" altLang="en-US" sz="2400" b="1">
                <a:solidFill>
                  <a:schemeClr val="bg1"/>
                </a:solidFill>
              </a:rPr>
              <a:t>这</a:t>
            </a:r>
            <a:r>
              <a:rPr lang="en-US" altLang="zh-CN" sz="2400" b="1">
                <a:solidFill>
                  <a:schemeClr val="bg1"/>
                </a:solidFill>
              </a:rPr>
              <a:t>300</a:t>
            </a:r>
            <a:r>
              <a:rPr lang="zh-CN" altLang="en-US" sz="2400" b="1">
                <a:solidFill>
                  <a:schemeClr val="bg1"/>
                </a:solidFill>
              </a:rPr>
              <a:t>多个网站里的这些信息都能爬出来，但是还没有优化整理好，现在那些数据乱乱的。我下一步工作计划是先把这些数据整理好，然后再扩大范围，进一步去找有关人工智能医疗的</a:t>
            </a:r>
            <a:r>
              <a:rPr lang="en-US" altLang="zh-CN" sz="2400" b="1">
                <a:solidFill>
                  <a:schemeClr val="bg1"/>
                </a:solidFill>
              </a:rPr>
              <a:t>github</a:t>
            </a:r>
            <a:r>
              <a:rPr lang="zh-CN" altLang="en-US" sz="2400" b="1">
                <a:solidFill>
                  <a:schemeClr val="bg1"/>
                </a:solidFill>
              </a:rPr>
              <a:t>网站上的信息。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9770" y="1241425"/>
            <a:ext cx="3110865" cy="1254760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8435975" y="2665730"/>
            <a:ext cx="2836545" cy="5156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b="1">
                <a:solidFill>
                  <a:schemeClr val="bg1"/>
                </a:solidFill>
              </a:rPr>
              <a:t>这里是还没有整理好，不太全的数据，有待优化</a:t>
            </a:r>
            <a:endParaRPr lang="zh-CN" altLang="en-US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72.15,&quot;left&quot;:59.999988896676676,&quot;top&quot;:140,&quot;width&quot;:592.1000111033236}"/>
</p:tagLst>
</file>

<file path=ppt/tags/tag2.xml><?xml version="1.0" encoding="utf-8"?>
<p:tagLst xmlns:p="http://schemas.openxmlformats.org/presentationml/2006/main">
  <p:tag name="KSO_WM_DIAGRAM_VIRTUALLY_FRAME" val="{&quot;height&quot;:372.15,&quot;left&quot;:59.999988896676676,&quot;top&quot;:140,&quot;width&quot;:592.1000111033236}"/>
</p:tagLst>
</file>

<file path=ppt/tags/tag3.xml><?xml version="1.0" encoding="utf-8"?>
<p:tagLst xmlns:p="http://schemas.openxmlformats.org/presentationml/2006/main">
  <p:tag name="KSO_WM_DIAGRAM_VIRTUALLY_FRAME" val="{&quot;height&quot;:372.15,&quot;left&quot;:59.999988896676676,&quot;top&quot;:140,&quot;width&quot;:592.1000111033236}"/>
</p:tagLst>
</file>

<file path=ppt/tags/tag4.xml><?xml version="1.0" encoding="utf-8"?>
<p:tagLst xmlns:p="http://schemas.openxmlformats.org/presentationml/2006/main">
  <p:tag name="KSO_WM_DIAGRAM_VIRTUALLY_FRAME" val="{&quot;height&quot;:372.15,&quot;left&quot;:59.999988896676676,&quot;top&quot;:140,&quot;width&quot;:592.1000111033236}"/>
</p:tagLst>
</file>

<file path=ppt/tags/tag5.xml><?xml version="1.0" encoding="utf-8"?>
<p:tagLst xmlns:p="http://schemas.openxmlformats.org/presentationml/2006/main">
  <p:tag name="KSO_WM_DIAGRAM_VIRTUALLY_FRAME" val="{&quot;height&quot;:295,&quot;left&quot;:59.9999888966767,&quot;top&quot;:140,&quot;width&quot;:410.00001110332335}"/>
</p:tagLst>
</file>

<file path=ppt/tags/tag6.xml><?xml version="1.0" encoding="utf-8"?>
<p:tagLst xmlns:p="http://schemas.openxmlformats.org/presentationml/2006/main">
  <p:tag name="KSO_WM_DIAGRAM_VIRTUALLY_FRAME" val="{&quot;height&quot;:372.15,&quot;left&quot;:59.999988896676676,&quot;top&quot;:140,&quot;width&quot;:592.1000111033236}"/>
</p:tagLst>
</file>

<file path=ppt/tags/tag7.xml><?xml version="1.0" encoding="utf-8"?>
<p:tagLst xmlns:p="http://schemas.openxmlformats.org/presentationml/2006/main">
  <p:tag name="KSO_WM_DIAGRAM_VIRTUALLY_FRAME" val="{&quot;height&quot;:372.15,&quot;left&quot;:59.999988896676676,&quot;top&quot;:140,&quot;width&quot;:592.1000111033236}"/>
</p:tagLst>
</file>

<file path=ppt/tags/tag8.xml><?xml version="1.0" encoding="utf-8"?>
<p:tagLst xmlns:p="http://schemas.openxmlformats.org/presentationml/2006/main">
  <p:tag name="KSO_WM_DIAGRAM_VIRTUALLY_FRAME" val="{&quot;height&quot;:372.15,&quot;left&quot;:59.999988896676676,&quot;top&quot;:140,&quot;width&quot;:592.1000111033236}"/>
</p:tagLst>
</file>

<file path=ppt/tags/tag9.xml><?xml version="1.0" encoding="utf-8"?>
<p:tagLst xmlns:p="http://schemas.openxmlformats.org/presentationml/2006/main">
  <p:tag name="KSO_WM_DIAGRAM_VIRTUALLY_FRAME" val="{&quot;height&quot;:372.15,&quot;left&quot;:59.999988896676676,&quot;top&quot;:140,&quot;width&quot;:592.1000111033236}"/>
</p:tagLst>
</file>

<file path=ppt/tags/tag10.xml><?xml version="1.0" encoding="utf-8"?>
<p:tagLst xmlns:p="http://schemas.openxmlformats.org/presentationml/2006/main">
  <p:tag name="KSO_WM_DIAGRAM_VIRTUALLY_FRAME" val="{&quot;height&quot;:372.15,&quot;left&quot;:59.999988896676676,&quot;top&quot;:140,&quot;width&quot;:592.1000111033236}"/>
</p:tagLst>
</file>

<file path=ppt/tags/tag11.xml><?xml version="1.0" encoding="utf-8"?>
<p:tagLst xmlns:p="http://schemas.openxmlformats.org/presentationml/2006/main">
  <p:tag name="KSO_WM_DIAGRAM_VIRTUALLY_FRAME" val="{&quot;height&quot;:143,&quot;left&quot;:510,&quot;top&quot;:180,&quot;width&quot;:395}"/>
</p:tagLst>
</file>

<file path=ppt/tags/tag12.xml><?xml version="1.0" encoding="utf-8"?>
<p:tagLst xmlns:p="http://schemas.openxmlformats.org/presentationml/2006/main">
  <p:tag name="KSO_WM_DIAGRAM_VIRTUALLY_FRAME" val="{&quot;height&quot;:143,&quot;left&quot;:510,&quot;top&quot;:180,&quot;width&quot;:395}"/>
</p:tagLst>
</file>

<file path=ppt/tags/tag13.xml><?xml version="1.0" encoding="utf-8"?>
<p:tagLst xmlns:p="http://schemas.openxmlformats.org/presentationml/2006/main">
  <p:tag name="KSO_WM_DIAGRAM_VIRTUALLY_FRAME" val="{&quot;height&quot;:143,&quot;left&quot;:510,&quot;top&quot;:180,&quot;width&quot;:395}"/>
</p:tagLst>
</file>

<file path=ppt/tags/tag14.xml><?xml version="1.0" encoding="utf-8"?>
<p:tagLst xmlns:p="http://schemas.openxmlformats.org/presentationml/2006/main">
  <p:tag name="KSO_WM_DIAGRAM_VIRTUALLY_FRAME" val="{&quot;height&quot;:143,&quot;left&quot;:510,&quot;top&quot;:180,&quot;width&quot;:395}"/>
</p:tagLst>
</file>

<file path=ppt/tags/tag15.xml><?xml version="1.0" encoding="utf-8"?>
<p:tagLst xmlns:p="http://schemas.openxmlformats.org/presentationml/2006/main">
  <p:tag name="KSO_WM_DIAGRAM_VIRTUALLY_FRAME" val="{&quot;height&quot;:143,&quot;left&quot;:510,&quot;top&quot;:180,&quot;width&quot;:395}"/>
</p:tagLst>
</file>

<file path=ppt/tags/tag16.xml><?xml version="1.0" encoding="utf-8"?>
<p:tagLst xmlns:p="http://schemas.openxmlformats.org/presentationml/2006/main">
  <p:tag name="KSO_WM_DIAGRAM_VIRTUALLY_FRAME" val="{&quot;height&quot;:143,&quot;left&quot;:510,&quot;top&quot;:180,&quot;width&quot;:395}"/>
</p:tagLst>
</file>

<file path=ppt/tags/tag17.xml><?xml version="1.0" encoding="utf-8"?>
<p:tagLst xmlns:p="http://schemas.openxmlformats.org/presentationml/2006/main">
  <p:tag name="KSO_WM_DIAGRAM_VIRTUALLY_FRAME" val="{&quot;height&quot;:143,&quot;left&quot;:510,&quot;top&quot;:180,&quot;width&quot;:395}"/>
</p:tagLst>
</file>

<file path=ppt/tags/tag18.xml><?xml version="1.0" encoding="utf-8"?>
<p:tagLst xmlns:p="http://schemas.openxmlformats.org/presentationml/2006/main">
  <p:tag name="KSO_WM_DIAGRAM_VIRTUALLY_FRAME" val="{&quot;height&quot;:80,&quot;left&quot;:60,&quot;top&quot;:152,&quot;width&quot;:840}"/>
</p:tagLst>
</file>

<file path=ppt/tags/tag19.xml><?xml version="1.0" encoding="utf-8"?>
<p:tagLst xmlns:p="http://schemas.openxmlformats.org/presentationml/2006/main">
  <p:tag name="KSO_WM_DIAGRAM_VIRTUALLY_FRAME" val="{&quot;height&quot;:80,&quot;left&quot;:60,&quot;top&quot;:152,&quot;width&quot;:840}"/>
</p:tagLst>
</file>

<file path=ppt/tags/tag20.xml><?xml version="1.0" encoding="utf-8"?>
<p:tagLst xmlns:p="http://schemas.openxmlformats.org/presentationml/2006/main">
  <p:tag name="KSO_WM_DIAGRAM_VIRTUALLY_FRAME" val="{&quot;height&quot;:80,&quot;left&quot;:60,&quot;top&quot;:152,&quot;width&quot;:840}"/>
</p:tagLst>
</file>

<file path=ppt/tags/tag21.xml><?xml version="1.0" encoding="utf-8"?>
<p:tagLst xmlns:p="http://schemas.openxmlformats.org/presentationml/2006/main">
  <p:tag name="KSO_WM_DIAGRAM_VIRTUALLY_FRAME" val="{&quot;height&quot;:80,&quot;left&quot;:60,&quot;top&quot;:152,&quot;width&quot;:840}"/>
</p:tagLst>
</file>

<file path=ppt/tags/tag22.xml><?xml version="1.0" encoding="utf-8"?>
<p:tagLst xmlns:p="http://schemas.openxmlformats.org/presentationml/2006/main">
  <p:tag name="KSO_WM_DIAGRAM_VIRTUALLY_FRAME" val="{&quot;height&quot;:80,&quot;left&quot;:60,&quot;top&quot;:152,&quot;width&quot;:840}"/>
</p:tagLst>
</file>

<file path=ppt/tags/tag23.xml><?xml version="1.0" encoding="utf-8"?>
<p:tagLst xmlns:p="http://schemas.openxmlformats.org/presentationml/2006/main">
  <p:tag name="KSO_WM_DIAGRAM_VIRTUALLY_FRAME" val="{&quot;height&quot;:80,&quot;left&quot;:60,&quot;top&quot;:152,&quot;width&quot;:840}"/>
</p:tagLst>
</file>

<file path=ppt/tags/tag24.xml><?xml version="1.0" encoding="utf-8"?>
<p:tagLst xmlns:p="http://schemas.openxmlformats.org/presentationml/2006/main">
  <p:tag name="KSO_WM_DIAGRAM_VIRTUALLY_FRAME" val="{&quot;height&quot;:80,&quot;left&quot;:60,&quot;top&quot;:152,&quot;width&quot;:840}"/>
</p:tagLst>
</file>

<file path=ppt/tags/tag25.xml><?xml version="1.0" encoding="utf-8"?>
<p:tagLst xmlns:p="http://schemas.openxmlformats.org/presentationml/2006/main">
  <p:tag name="KSO_WM_DIAGRAM_VIRTUALLY_FRAME" val="{&quot;height&quot;:80,&quot;left&quot;:60,&quot;top&quot;:152,&quot;width&quot;:840}"/>
</p:tagLst>
</file>

<file path=ppt/tags/tag26.xml><?xml version="1.0" encoding="utf-8"?>
<p:tagLst xmlns:p="http://schemas.openxmlformats.org/presentationml/2006/main">
  <p:tag name="KSO_WM_DIAGRAM_VIRTUALLY_FRAME" val="{&quot;height&quot;:80,&quot;left&quot;:60,&quot;top&quot;:152,&quot;width&quot;:840}"/>
</p:tagLst>
</file>

<file path=ppt/tags/tag27.xml><?xml version="1.0" encoding="utf-8"?>
<p:tagLst xmlns:p="http://schemas.openxmlformats.org/presentationml/2006/main">
  <p:tag name="KSO_WM_DIAGRAM_VIRTUALLY_FRAME" val="{&quot;height&quot;:80,&quot;left&quot;:60,&quot;top&quot;:152,&quot;width&quot;:840}"/>
</p:tagLst>
</file>

<file path=ppt/tags/tag28.xml><?xml version="1.0" encoding="utf-8"?>
<p:tagLst xmlns:p="http://schemas.openxmlformats.org/presentationml/2006/main">
  <p:tag name="KSO_WM_DIAGRAM_VIRTUALLY_FRAME" val="{&quot;height&quot;:80,&quot;left&quot;:60,&quot;top&quot;:152,&quot;width&quot;:840}"/>
</p:tagLst>
</file>

<file path=ppt/tags/tag29.xml><?xml version="1.0" encoding="utf-8"?>
<p:tagLst xmlns:p="http://schemas.openxmlformats.org/presentationml/2006/main">
  <p:tag name="KSO_WM_DIAGRAM_VIRTUALLY_FRAME" val="{&quot;height&quot;:80,&quot;left&quot;:60,&quot;top&quot;:152,&quot;width&quot;:840}"/>
</p:tagLst>
</file>

<file path=ppt/tags/tag30.xml><?xml version="1.0" encoding="utf-8"?>
<p:tagLst xmlns:p="http://schemas.openxmlformats.org/presentationml/2006/main">
  <p:tag name="KSO_WM_DIAGRAM_VIRTUALLY_FRAME" val="{&quot;height&quot;:80,&quot;left&quot;:60,&quot;top&quot;:152,&quot;width&quot;:840}"/>
</p:tagLst>
</file>

<file path=ppt/tags/tag31.xml><?xml version="1.0" encoding="utf-8"?>
<p:tagLst xmlns:p="http://schemas.openxmlformats.org/presentationml/2006/main">
  <p:tag name="KSO_WM_DIAGRAM_VIRTUALLY_FRAME" val="{&quot;height&quot;:80,&quot;left&quot;:60,&quot;top&quot;:152,&quot;width&quot;:840}"/>
</p:tagLst>
</file>

<file path=ppt/tags/tag32.xml><?xml version="1.0" encoding="utf-8"?>
<p:tagLst xmlns:p="http://schemas.openxmlformats.org/presentationml/2006/main">
  <p:tag name="KSO_WM_DIAGRAM_VIRTUALLY_FRAME" val="{&quot;height&quot;:80,&quot;left&quot;:60,&quot;top&quot;:152,&quot;width&quot;:840}"/>
</p:tagLst>
</file>

<file path=ppt/tags/tag33.xml><?xml version="1.0" encoding="utf-8"?>
<p:tagLst xmlns:p="http://schemas.openxmlformats.org/presentationml/2006/main">
  <p:tag name="KSO_WM_DIAGRAM_VIRTUALLY_FRAME" val="{&quot;height&quot;:80,&quot;left&quot;:60,&quot;top&quot;:152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998</Words>
  <Application>WPS 演示</Application>
  <PresentationFormat/>
  <Paragraphs>157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唐振桓</cp:lastModifiedBy>
  <cp:revision>2</cp:revision>
  <dcterms:created xsi:type="dcterms:W3CDTF">2026-01-26T12:31:27Z</dcterms:created>
  <dcterms:modified xsi:type="dcterms:W3CDTF">2026-01-26T12:32:36Z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9BE6113DB1C54DEC94499820035452D1_12</vt:lpwstr>
  </property>
</Properties>
</file>